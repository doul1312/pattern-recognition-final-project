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0" r:id="rId4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67AEA-029D-6948-18B4-30FF036B8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8E6CD8-B405-65DF-DFE3-F51BDA7FBB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2FA55-8630-63C7-B162-21EF97BCA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0168-EB40-45AF-89A1-87DE0A55FFC6}" type="datetime1">
              <a:rPr lang="en-US" smtClean="0"/>
              <a:t>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F27AC-1C80-0E89-28ED-74FF68EF6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97325-05E2-36FA-AC3B-32FBD1101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764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D5C27-C486-7C15-795D-6F90EDC2A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E7DAE-9D32-B42B-CC55-EED7EEC37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D34DD-7C4D-E6A5-2A5D-91D3BB128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40B98-ED58-BC74-DF01-AD812233F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25BA8-74BB-1F7C-1F6D-9419D2EF7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090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84ECB-F017-58A9-95C0-A8968A0ED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C15777-11FD-125E-199E-3ED411C8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8E5A6-EB5B-1806-6D30-D7FB6691E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05506-6815-4E0E-B1DE-ECA35C2016DF}" type="datetime1">
              <a:rPr lang="en-US" smtClean="0"/>
              <a:t>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743E0-4ECA-D33B-2228-7BF2BC495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F7856-4DEB-D901-DCFB-820ABFECA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551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01B61-B494-03EB-7D29-CF10E4071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CFAA0-C67C-DF59-5CC3-3D281EC339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83659F-4DE1-DCD1-9148-80E37CDA4A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643981-FF4F-B89D-0B45-15E7CB92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E85F7-A724-48A4-9D33-CEBC5174E865}" type="datetime1">
              <a:rPr lang="en-US" smtClean="0"/>
              <a:t>1/21/2024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0D6F67-C87E-B3E7-0277-B5FD88AFE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20C9F7-2722-E2AB-4D4A-09BAB472E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299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04FF1-4516-6A21-F13C-825E63154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DC8413-7B92-21CF-055B-563DD31A6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6ECCA4-0DAC-152E-8EEE-FFE1114F3F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593839-09A3-E114-0F80-FB6033F40E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0B6653-47DD-E2B6-854E-B50D9E38DC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446D9D-BCC8-2A53-7EC6-5D68047D3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06E7A-BDD3-46A3-BEE2-EB821F9236B4}" type="datetime1">
              <a:rPr lang="en-US" smtClean="0"/>
              <a:t>1/21/2024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A5875F-F5D4-E85B-382D-866B39017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D58220-CDB7-784F-162A-C2471583B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356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A45EF-7C04-EFED-E764-138C02E7A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A94E78-DA53-82D3-86C7-48C3986EA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1540C-9440-4E7A-B71A-BEFEE06869E3}" type="datetime1">
              <a:rPr lang="en-US" smtClean="0"/>
              <a:t>1/21/2024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6F42F7-BA1C-EC8B-1761-565A8C36B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3F6E31-8E47-0E59-AA27-6E1D321D5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337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99C8F0-8BE3-CE4B-C397-339BA9AA3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18DDB-88AC-4039-B59C-B05DC4C9C16C}" type="datetime1">
              <a:rPr lang="en-US" smtClean="0"/>
              <a:t>1/21/2024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320FA1-3A16-C0BF-81EA-F7BF593F1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E25027-C3B7-0C5B-9FB9-B232075F6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530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45F28-DC72-C644-7F20-5ABB9055D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85959-0BE0-11F4-47D4-AB064EDEA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1DA2E1-50B7-A30E-A7B2-C0BB6CB4A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F8C3A-9091-96DE-A5F9-9E0974C43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ABFB-60E7-4BA1-866A-7059F058065B}" type="datetime1">
              <a:rPr lang="en-US" smtClean="0"/>
              <a:t>1/21/2024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55A5CB-8C09-852C-B4E0-B01F662F4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35EC47-A30A-FB45-524C-C02AE8F68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444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8D655-0111-CA73-B3F1-9D115FC2C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0C96B7-D1E8-7E0D-FFF5-6EA6FFAB54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F4625A-4D80-CBDB-53B0-6B2D3D2885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C057F2-5C8E-D975-9F60-8CA777FDF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4112F-55F4-4776-A323-7418930321C8}" type="datetime1">
              <a:rPr lang="en-US" smtClean="0"/>
              <a:t>1/21/2024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8F3107-FD19-D8A6-33AD-5EF907639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3F235-DBE0-6DCD-C985-86264A6EF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101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00D78-DEF1-C6D1-8006-90983DDE5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276E6D-4B2B-55EF-4A0E-F33BF3D29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C8B50-D094-2112-860A-5AB6FECAE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CA68F-747D-436A-B5BB-2EBC3ED499E4}" type="datetime1">
              <a:rPr lang="en-US" smtClean="0"/>
              <a:t>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58298-A11E-3004-46F4-8C7CDBD2D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3E749-E0A1-3ED9-C330-2A71D7C42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393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4DFCAA-CE3E-D377-B474-55A491B68B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00EA56-95DC-C53C-2A39-257DAAEBAF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C2706-1834-4B67-FCC2-48B053F97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8DC11-9E39-40A0-B3DC-E3F2AD04A616}" type="datetime1">
              <a:rPr lang="en-US" smtClean="0"/>
              <a:t>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E98B2-C914-C12C-3D9C-F14E39EF7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3F411-BD3E-0F61-494B-115B3AAFF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470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C790EA-7812-3232-9BC4-794F3EBFE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67EE7-E3D3-1548-EE08-B233ED5CC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A5FA5-FED8-FCB0-DDB6-64CD23C209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BEA57F-793F-4683-BD8A-741FD4B89154}" type="datetime1">
              <a:rPr lang="en-US" smtClean="0"/>
              <a:t>1/21/2024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AFDC6-1E02-615D-4625-AE34A32E20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4A26B-73E4-C895-FDCA-14BE514F39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D2C36F-4504-47C0-B82F-A167342A27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919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Wavy 3D art">
            <a:extLst>
              <a:ext uri="{FF2B5EF4-FFF2-40B4-BE49-F238E27FC236}">
                <a16:creationId xmlns:a16="http://schemas.microsoft.com/office/drawing/2014/main" id="{05CD2E6A-C2D6-5368-1CDC-CC67AD868F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</a:blip>
          <a:srcRect t="20450" b="6969"/>
          <a:stretch/>
        </p:blipFill>
        <p:spPr>
          <a:xfrm>
            <a:off x="20" y="-4069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5987AD-DBDF-2F77-ABC9-E9E1E3F161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4366" y="616258"/>
            <a:ext cx="9763265" cy="3531847"/>
          </a:xfrm>
        </p:spPr>
        <p:txBody>
          <a:bodyPr anchor="t">
            <a:normAutofit/>
          </a:bodyPr>
          <a:lstStyle/>
          <a:p>
            <a:r>
              <a:rPr lang="el-GR" sz="4400" u="sng" dirty="0">
                <a:latin typeface="Calibri" panose="020F0502020204030204" pitchFamily="34" charset="0"/>
                <a:cs typeface="Calibri" panose="020F0502020204030204" pitchFamily="34" charset="0"/>
              </a:rPr>
              <a:t>ΑΝΑΓΝΩΡΙΣΗ ΠΡΟΤΥΠΩΝ</a:t>
            </a:r>
            <a:br>
              <a:rPr lang="el-GR" sz="4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l-GR" sz="4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l-GR" sz="3200" b="1" dirty="0">
                <a:latin typeface="Calibri" panose="020F0502020204030204" pitchFamily="34" charset="0"/>
                <a:cs typeface="Calibri" panose="020F0502020204030204" pitchFamily="34" charset="0"/>
              </a:rPr>
              <a:t>Τελική Εργασία Εξαμήνου</a:t>
            </a:r>
            <a:endParaRPr lang="el-GR" sz="1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D67F53-BFE5-3DC6-038A-659397A087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456" y="6019800"/>
            <a:ext cx="8701087" cy="596761"/>
          </a:xfrm>
        </p:spPr>
        <p:txBody>
          <a:bodyPr>
            <a:normAutofit fontScale="62500" lnSpcReduction="20000"/>
          </a:bodyPr>
          <a:lstStyle/>
          <a:p>
            <a:r>
              <a:rPr lang="el-GR" sz="2400" dirty="0">
                <a:latin typeface="Calibri" panose="020F0502020204030204" pitchFamily="34" charset="0"/>
                <a:cs typeface="Calibri" panose="020F0502020204030204" pitchFamily="34" charset="0"/>
              </a:rPr>
              <a:t>Υπεύθυνος Καθηγητής: Ηλίας Θεοδωρακόπουλος</a:t>
            </a:r>
            <a:br>
              <a:rPr lang="el-GR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l-GR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l-GR" sz="2400" dirty="0">
                <a:latin typeface="Calibri" panose="020F0502020204030204" pitchFamily="34" charset="0"/>
                <a:cs typeface="Calibri" panose="020F0502020204030204" pitchFamily="34" charset="0"/>
              </a:rPr>
              <a:t>Δημήτριος Δούλαλας - ΑΕΜ:58194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583929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avy 3D art">
            <a:extLst>
              <a:ext uri="{FF2B5EF4-FFF2-40B4-BE49-F238E27FC236}">
                <a16:creationId xmlns:a16="http://schemas.microsoft.com/office/drawing/2014/main" id="{6106D770-9CBA-1463-808B-5CB11A2A4A2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</a:blip>
          <a:srcRect t="20450" b="6969"/>
          <a:stretch/>
        </p:blipFill>
        <p:spPr>
          <a:xfrm>
            <a:off x="20" y="-4069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EDE326-E08E-D393-8467-4CBC20055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Μέρος 1</a:t>
            </a:r>
            <a:r>
              <a:rPr lang="el-GR" baseline="3000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ο</a:t>
            </a:r>
            <a:endParaRPr lang="el-GR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BA7E5-3DB2-687F-9671-12952EBF4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520889" cy="4102899"/>
          </a:xfrm>
        </p:spPr>
        <p:txBody>
          <a:bodyPr/>
          <a:lstStyle/>
          <a:p>
            <a:pPr marL="0" indent="0">
              <a:buNone/>
            </a:pPr>
            <a:r>
              <a:rPr lang="el-GR" sz="2400" b="1" dirty="0">
                <a:latin typeface="Calibri" panose="020F0502020204030204" pitchFamily="34" charset="0"/>
                <a:cs typeface="Calibri" panose="020F0502020204030204" pitchFamily="34" charset="0"/>
              </a:rPr>
              <a:t>2 παραλλαγές 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CNN</a:t>
            </a:r>
          </a:p>
          <a:p>
            <a:r>
              <a:rPr lang="el-GR" sz="2000" b="1" dirty="0">
                <a:latin typeface="Calibri" panose="020F0502020204030204" pitchFamily="34" charset="0"/>
                <a:cs typeface="Calibri" panose="020F0502020204030204" pitchFamily="34" charset="0"/>
              </a:rPr>
              <a:t>με 3 συνελικτικά επίπεδα</a:t>
            </a:r>
          </a:p>
          <a:p>
            <a:r>
              <a:rPr lang="el-GR" sz="2000" b="1" dirty="0">
                <a:latin typeface="Calibri" panose="020F0502020204030204" pitchFamily="34" charset="0"/>
                <a:cs typeface="Calibri" panose="020F0502020204030204" pitchFamily="34" charset="0"/>
              </a:rPr>
              <a:t>με 4 συνελικτικά επίπεδα</a:t>
            </a:r>
          </a:p>
          <a:p>
            <a:endParaRPr lang="el-G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l-GR" sz="2000" b="1" dirty="0">
                <a:latin typeface="Calibri" panose="020F0502020204030204" pitchFamily="34" charset="0"/>
                <a:cs typeface="Calibri" panose="020F0502020204030204" pitchFamily="34" charset="0"/>
              </a:rPr>
              <a:t>Για το καλύτερο μοντέλο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000" b="1" dirty="0">
                <a:latin typeface="Calibri" panose="020F0502020204030204" pitchFamily="34" charset="0"/>
                <a:cs typeface="Calibri" panose="020F0502020204030204" pitchFamily="34" charset="0"/>
              </a:rPr>
              <a:t>(το 2</a:t>
            </a:r>
            <a:r>
              <a:rPr lang="el-GR" sz="2000" b="1" baseline="30000" dirty="0">
                <a:latin typeface="Calibri" panose="020F0502020204030204" pitchFamily="34" charset="0"/>
                <a:cs typeface="Calibri" panose="020F0502020204030204" pitchFamily="34" charset="0"/>
              </a:rPr>
              <a:t>ο</a:t>
            </a:r>
            <a:r>
              <a:rPr lang="el-GR" sz="2000" b="1" dirty="0">
                <a:latin typeface="Calibri" panose="020F0502020204030204" pitchFamily="34" charset="0"/>
                <a:cs typeface="Calibri" panose="020F0502020204030204" pitchFamily="34" charset="0"/>
              </a:rPr>
              <a:t> δηλαδή)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000" b="1" dirty="0">
                <a:latin typeface="Calibri" panose="020F0502020204030204" pitchFamily="34" charset="0"/>
                <a:cs typeface="Calibri" panose="020F0502020204030204" pitchFamily="34" charset="0"/>
              </a:rPr>
              <a:t>απεικονίζουμε τις καμπύλες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Precision-Recall</a:t>
            </a:r>
          </a:p>
          <a:p>
            <a:pPr marL="0" indent="0">
              <a:buNone/>
            </a:pPr>
            <a:r>
              <a:rPr lang="el-GR" sz="2000" b="1" dirty="0">
                <a:latin typeface="Calibri" panose="020F0502020204030204" pitchFamily="34" charset="0"/>
                <a:cs typeface="Calibri" panose="020F0502020204030204" pitchFamily="34" charset="0"/>
              </a:rPr>
              <a:t>Το </a:t>
            </a:r>
            <a:r>
              <a:rPr lang="en-US" sz="2000" b="1" dirty="0" err="1">
                <a:latin typeface="Calibri" panose="020F0502020204030204" pitchFamily="34" charset="0"/>
                <a:cs typeface="Calibri" panose="020F0502020204030204" pitchFamily="34" charset="0"/>
              </a:rPr>
              <a:t>test_loss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000" b="1" dirty="0">
                <a:latin typeface="Calibri" panose="020F0502020204030204" pitchFamily="34" charset="0"/>
                <a:cs typeface="Calibri" panose="020F0502020204030204" pitchFamily="34" charset="0"/>
              </a:rPr>
              <a:t>βγαίνει 0.079, ενώ το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AUC</a:t>
            </a:r>
            <a:r>
              <a:rPr lang="el-GR" sz="2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(Area Under Curve)</a:t>
            </a:r>
            <a:r>
              <a:rPr lang="el-GR" sz="2000" b="1" dirty="0">
                <a:latin typeface="Calibri" panose="020F0502020204030204" pitchFamily="34" charset="0"/>
                <a:cs typeface="Calibri" panose="020F0502020204030204" pitchFamily="34" charset="0"/>
              </a:rPr>
              <a:t> είναι 0.997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A229E-9418-6618-0477-91FCC75C2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1/21/2024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C8E99-EF81-94C3-B224-7707F547A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16E85-B0FA-C4BB-387E-99F58D9E5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2</a:t>
            </a:fld>
            <a:endParaRPr lang="en-US"/>
          </a:p>
        </p:txBody>
      </p:sp>
      <p:pic>
        <p:nvPicPr>
          <p:cNvPr id="9" name="Picture 8" descr="A graph with lines and numbers">
            <a:extLst>
              <a:ext uri="{FF2B5EF4-FFF2-40B4-BE49-F238E27FC236}">
                <a16:creationId xmlns:a16="http://schemas.microsoft.com/office/drawing/2014/main" id="{6B8ABC35-067B-8AAE-6EA2-E466068924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6767" y="505291"/>
            <a:ext cx="3520889" cy="2640667"/>
          </a:xfrm>
          <a:prstGeom prst="rect">
            <a:avLst/>
          </a:prstGeom>
        </p:spPr>
      </p:pic>
      <p:pic>
        <p:nvPicPr>
          <p:cNvPr id="11" name="Picture 10" descr="A graph with red and blue lines">
            <a:extLst>
              <a:ext uri="{FF2B5EF4-FFF2-40B4-BE49-F238E27FC236}">
                <a16:creationId xmlns:a16="http://schemas.microsoft.com/office/drawing/2014/main" id="{6BADB95B-80CA-BCDD-CB77-F693AE9C85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3359" y="503558"/>
            <a:ext cx="3523200" cy="2642400"/>
          </a:xfrm>
          <a:prstGeom prst="rect">
            <a:avLst/>
          </a:prstGeom>
        </p:spPr>
      </p:pic>
      <p:pic>
        <p:nvPicPr>
          <p:cNvPr id="13" name="Picture 12" descr="A graph of a curve&#10;&#10;Description automatically generated">
            <a:extLst>
              <a:ext uri="{FF2B5EF4-FFF2-40B4-BE49-F238E27FC236}">
                <a16:creationId xmlns:a16="http://schemas.microsoft.com/office/drawing/2014/main" id="{0DFC2DC3-56FB-DCCD-FF01-26A3EDBE76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211" y="3424931"/>
            <a:ext cx="3864746" cy="2898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132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avy 3D art">
            <a:extLst>
              <a:ext uri="{FF2B5EF4-FFF2-40B4-BE49-F238E27FC236}">
                <a16:creationId xmlns:a16="http://schemas.microsoft.com/office/drawing/2014/main" id="{6106D770-9CBA-1463-808B-5CB11A2A4A2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</a:blip>
          <a:srcRect t="20450" b="6969"/>
          <a:stretch/>
        </p:blipFill>
        <p:spPr>
          <a:xfrm>
            <a:off x="20" y="-4069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EDE326-E08E-D393-8467-4CBC20055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Μέρος 2</a:t>
            </a:r>
            <a:r>
              <a:rPr lang="el-GR" baseline="3000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ο</a:t>
            </a:r>
            <a:endParaRPr lang="el-G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BA7E5-3DB2-687F-9671-12952EBF4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329909" cy="32168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l-GR" sz="2400" b="1" dirty="0">
                <a:latin typeface="Calibri" panose="020F0502020204030204" pitchFamily="34" charset="0"/>
                <a:cs typeface="Calibri" panose="020F0502020204030204" pitchFamily="34" charset="0"/>
              </a:rPr>
              <a:t>3 παραλλαγές 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NN</a:t>
            </a:r>
          </a:p>
          <a:p>
            <a:r>
              <a:rPr lang="el-GR" sz="2000" b="1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2 συνδυαστικά επίπεδα με 3 επίπεδα για συνεχή χαρακτηριστικά, 3 επίπεδα για δυαδικά χαρακτηριστικά και ένα επίπεδο εξόδου</a:t>
            </a:r>
            <a:endParaRPr lang="en-US" sz="2000" b="1" dirty="0">
              <a:effectLst/>
              <a:latin typeface="Calibri" panose="020F0502020204030204" pitchFamily="34" charset="0"/>
              <a:ea typeface="Aptos" panose="020B0004020202020204" pitchFamily="34" charset="0"/>
            </a:endParaRPr>
          </a:p>
          <a:p>
            <a:r>
              <a:rPr lang="el-GR" sz="2000" b="1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2 συνδυαστικά επίπεδα με 5 επίπεδα για συνεχή χαρακτηριστικά, 5 επίπεδα για δυαδικά χαρακτηριστικά και ένα επίπεδο εξόδου.</a:t>
            </a:r>
            <a:endParaRPr lang="en-US" sz="2000" b="1" dirty="0">
              <a:latin typeface="Calibri" panose="020F0502020204030204" pitchFamily="34" charset="0"/>
              <a:ea typeface="Aptos" panose="020B0004020202020204" pitchFamily="34" charset="0"/>
            </a:endParaRPr>
          </a:p>
          <a:p>
            <a:r>
              <a:rPr lang="el-GR" sz="200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 συνδυαστικά επίπεδα με 5 επίπεδα για συνεχή χαρακτηριστικά, 5 επίπεδα για δυαδικά χαρακτηριστικά και ένα επίπεδο εξόδου.</a:t>
            </a:r>
            <a:endParaRPr lang="el-GR" sz="2000" b="1" kern="100" dirty="0"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l-GR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Αυτό που παρατηρήθηκε είναι πως το τελευταίο νευρωνικό δίκτυο παρουσίασε το καλύτερο </a:t>
            </a:r>
            <a:r>
              <a:rPr lang="en-US" sz="20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Validation_accuracy</a:t>
            </a: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(90.1%).</a:t>
            </a:r>
            <a:endParaRPr lang="el-GR" sz="20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A229E-9418-6618-0477-91FCC75C2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C8E99-EF81-94C3-B224-7707F547A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 sz="1600" b="1" dirty="0">
                <a:solidFill>
                  <a:srgbClr val="33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Ευχαριστώ για την προσοχή σας  :)</a:t>
            </a:r>
            <a:endParaRPr lang="en-US" sz="1600" b="1" dirty="0">
              <a:solidFill>
                <a:srgbClr val="3366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16E85-B0FA-C4BB-387E-99F58D9E5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826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</TotalTime>
  <Words>155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ΑΝΑΓΝΩΡΙΣΗ ΠΡΟΤΥΠΩΝ  Τελική Εργασία Εξαμήνου</vt:lpstr>
      <vt:lpstr>Μέρος 1ο</vt:lpstr>
      <vt:lpstr>Μέρος 2ο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ΑΝΑΓΝΩΡΙΣΗ ΠΡΟΤΥΠΩΝ  Τελική Εργασία Εξαμήνου</dc:title>
  <dc:creator>Δημήτριος Δούλαλας</dc:creator>
  <cp:lastModifiedBy>Δημήτριος Δούλαλας</cp:lastModifiedBy>
  <cp:revision>1</cp:revision>
  <dcterms:created xsi:type="dcterms:W3CDTF">2024-01-21T19:36:27Z</dcterms:created>
  <dcterms:modified xsi:type="dcterms:W3CDTF">2024-01-21T21:44:10Z</dcterms:modified>
</cp:coreProperties>
</file>